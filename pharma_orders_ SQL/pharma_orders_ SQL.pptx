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FAFD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AE60B-AC93-8BBE-7AD6-F51EB8DD4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E9910B-331B-55F5-1152-4C326C2F0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390FA0-6860-C645-3FF7-2A70E75B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D630D-96FC-6C66-4280-6D3DFD73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2D661F-C1C3-A8E7-7DCD-AA13C608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89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B5353D-B2BB-77A9-3353-BBCBE381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735A40-660E-01E6-4106-009A10F8A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DE7EBD-E456-E929-FDD0-90345B7A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874B1A-DB77-16F1-8DF8-0404BAA0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9B9D31-AA59-ED2B-8004-488C6AA0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01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5C3EE6-BBBB-DF90-AE2F-3FA7D4860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3F8106-2B88-425E-CE6D-A1B9B075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817114-BB1C-9A47-050B-43C023F5D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D498A9-905B-0E4B-6CC0-C73A7D42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4C559A-A750-06B8-C573-2765C5A5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34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62D0D-9375-9C08-8B8F-EDB9399B0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BB4DBA-9C7B-0493-E09D-2C09D08AA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A049E2-ADBA-6451-571E-86DCF3977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04E8B6-41B8-0918-271A-691D4AA0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B8406F-B623-6C43-7EE1-A7C9F17F8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B91023-5241-C5BA-3DBB-147FE925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542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4D111-784E-4E55-2835-74922223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F49E83-2C23-4086-E24F-D83950D00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2D55E4-61AE-3513-3476-AB441F194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68E606F-4939-2593-AAA6-DDC18D980C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710F74-EBC6-A3F6-1103-7DF792AD1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472A916-C06C-B17A-E977-A0CF0578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C15C2BD-474C-2B32-F7A8-2A2843B46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7FFF39A-B472-0D33-CF2A-ACBE0FC02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6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3CB7B-AA4D-C112-FB7D-EAC21348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7DFC544-4036-B3BA-8D40-D6D410C5D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C2198E-5465-62BF-A601-6A2DC160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61C43B5-859F-0BB5-B341-01316B86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31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110A15D-6A24-00AD-6D5E-F46317EAC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B033AD-238E-DE8D-1278-CC4225033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7CF078-3E5A-780C-8EC1-017930FBC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05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CF8A4-CF7D-5852-5764-AC4401F8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A5FA20-7E96-AD8E-CCFC-C36880E17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FDE0C6-C0B6-EEA1-51C8-0B6E5B173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138806-5749-D253-67DE-AB89055E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B449CE-DAC2-6EA6-215D-38A5E6A77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91E644-8094-6F00-B780-53BCA6BB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23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1AF38-3461-8250-AD16-CF558DF5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C5B822-205E-DABF-ECB0-74E3146C0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8DFBD2-4500-B013-B429-06D2ABBC1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DA8392-7AE7-13CD-D80B-CBC1920D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FCD52D-CC6F-8414-1F8A-AF2B12C60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A4B0A6-4FA4-0D95-31A4-60A1D340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49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E9BE6-EA31-DD10-3F7A-B2DE6D6E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49B92D-B23E-AC98-73A9-7EFA3CC43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EAA51B-46B1-9B0C-F159-9539B9B6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577032-F11B-8A28-817A-15B95DFBC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68D29D-EA0C-5D6F-C924-8E7FE965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22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203E01-E17B-01CB-CFFE-FC831611A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032068-9507-479E-EA7A-B91B88B47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60CC6B-CF94-96A6-EE0B-9E4AB9DDB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37832C-9D60-0A60-2C6D-43B1CD46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E77731-2D99-81B4-4466-87D4A7C7F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01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6E745-534D-B568-A233-E1E8A2EB4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ED7CC5-FFDE-A121-5264-480E59228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122989-B6AF-4C95-C712-9A2355D66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50DFF-1914-40D4-8C86-A63005CC267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15E187-8817-143F-4E5D-E5A1FE8C2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E7CD0C-4299-373A-EB81-24DFD2185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C48D4-1FCF-49B7-ABF7-60A1B4516F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55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4F8A67D-4432-0EB1-72BC-E887B0EA1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3860C66-650D-06B7-F136-9D8B380705DE}"/>
              </a:ext>
            </a:extLst>
          </p:cNvPr>
          <p:cNvSpPr/>
          <p:nvPr/>
        </p:nvSpPr>
        <p:spPr>
          <a:xfrm>
            <a:off x="-1" y="0"/>
            <a:ext cx="10744201" cy="23211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7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</a:t>
            </a:r>
            <a:r>
              <a:rPr lang="en-US" sz="7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аптечного сектора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9FC5A-FDC7-AFC8-66DD-C6707F0710F9}"/>
              </a:ext>
            </a:extLst>
          </p:cNvPr>
          <p:cNvSpPr txBox="1"/>
          <p:nvPr/>
        </p:nvSpPr>
        <p:spPr>
          <a:xfrm>
            <a:off x="0" y="584233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i="1" dirty="0">
                <a:ln>
                  <a:solidFill>
                    <a:srgbClr val="00FFFF"/>
                  </a:solidFill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выполнила Коробкова Мария</a:t>
            </a:r>
          </a:p>
          <a:p>
            <a:r>
              <a:rPr lang="ru-RU" sz="2000" i="1" dirty="0">
                <a:ln>
                  <a:solidFill>
                    <a:srgbClr val="00FFFF"/>
                  </a:solidFill>
                </a:ln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курса по анализу данных  </a:t>
            </a:r>
          </a:p>
        </p:txBody>
      </p:sp>
    </p:spTree>
    <p:extLst>
      <p:ext uri="{BB962C8B-B14F-4D97-AF65-F5344CB8AC3E}">
        <p14:creationId xmlns:p14="http://schemas.microsoft.com/office/powerpoint/2010/main" val="316429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CD4B8FE-967B-FBA7-B01A-F33B2395DE2A}"/>
              </a:ext>
            </a:extLst>
          </p:cNvPr>
          <p:cNvSpPr/>
          <p:nvPr/>
        </p:nvSpPr>
        <p:spPr>
          <a:xfrm>
            <a:off x="5328138" y="0"/>
            <a:ext cx="6863862" cy="738554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8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Лидеры среди аптек по объёму продаж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5620DD-2035-A97D-E378-33868FCA1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328139" cy="68580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3CEC77E-DC53-7CB0-DD73-CD5860DC2E79}"/>
              </a:ext>
            </a:extLst>
          </p:cNvPr>
          <p:cNvSpPr/>
          <p:nvPr/>
        </p:nvSpPr>
        <p:spPr>
          <a:xfrm>
            <a:off x="5328138" y="738554"/>
            <a:ext cx="6863862" cy="6119446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Использованные функции:</a:t>
            </a:r>
          </a:p>
          <a:p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SUM() — суммирует значения</a:t>
            </a:r>
          </a:p>
          <a:p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COUNT — вычисляет объём продаж (цена × количество)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— группирует данные по аптекам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... DESC — сортирует по убыванию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 3 — ограничивает вывод топ-3</a:t>
            </a:r>
          </a:p>
          <a:p>
            <a:endParaRPr lang="ru-RU" dirty="0"/>
          </a:p>
          <a:p>
            <a:endParaRPr lang="ru-RU" dirty="0"/>
          </a:p>
          <a:p>
            <a:endParaRPr lang="ru-RU" dirty="0">
              <a:solidFill>
                <a:srgbClr val="CFFAFD"/>
              </a:solidFill>
            </a:endParaRPr>
          </a:p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 по данным:</a:t>
            </a:r>
          </a:p>
          <a:p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Топ-3 аптеки по объёму продаж очень близки по показателям (разница менее 2%). Лидирует "Столичная" с результатом 1,896 млн, за ней следуют "Доктор Айболит" (1,894 млн) и "</a:t>
            </a:r>
            <a:r>
              <a:rPr lang="ru-RU" sz="20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Здравсити</a:t>
            </a:r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(1,863 млн). Конкуренция высокая, все три аптеки показывают схожие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1568604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7762-379C-BECC-C75A-0150A34AB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32011B-9F15-D198-AD26-E8A3D82502B7}"/>
              </a:ext>
            </a:extLst>
          </p:cNvPr>
          <p:cNvSpPr/>
          <p:nvPr/>
        </p:nvSpPr>
        <p:spPr>
          <a:xfrm>
            <a:off x="5380893" y="0"/>
            <a:ext cx="6811108" cy="879230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8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Лидеры среди лекарств по объёму продаж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F28D62-FAA5-DF12-A309-FCFCBDA53E66}"/>
              </a:ext>
            </a:extLst>
          </p:cNvPr>
          <p:cNvSpPr/>
          <p:nvPr/>
        </p:nvSpPr>
        <p:spPr>
          <a:xfrm>
            <a:off x="5380893" y="879230"/>
            <a:ext cx="6811108" cy="5978769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Использованные функции:</a:t>
            </a:r>
          </a:p>
          <a:p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SUM() — суммирует значения</a:t>
            </a:r>
          </a:p>
          <a:p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COUNT — вычисляет объём продаж (цена × количество)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— группирует данные по лекарствам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... DESC — сортирует по убыванию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 3 — ограничивает вывод топ-3</a:t>
            </a:r>
          </a:p>
          <a:p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 по данным:</a:t>
            </a:r>
          </a:p>
          <a:p>
            <a:endParaRPr lang="ru-RU" sz="20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Топ-3 лекарства также показывают очень близкие результаты по объёму продаж (разница менее 1%). Лидирует "Ибупрофен" с результатом 777 548, затем "Цитрамон" (776 332) и "Аквафорте" (771 579). Все три препарата пользуются схожим спросом, что говорит о стабильном потреблении популярных лекарств.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0E4F71-3663-64AE-6A22-BBD767C21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677" y="0"/>
            <a:ext cx="552156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4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EE919-82BE-3577-3C50-BB82244CE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7019494-4C69-15A3-AE60-4E169504F6A1}"/>
              </a:ext>
            </a:extLst>
          </p:cNvPr>
          <p:cNvSpPr/>
          <p:nvPr/>
        </p:nvSpPr>
        <p:spPr>
          <a:xfrm>
            <a:off x="5380893" y="879230"/>
            <a:ext cx="6811108" cy="5978769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Использованные функции:</a:t>
            </a:r>
          </a:p>
          <a:p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SUM() — суммирует значения</a:t>
            </a:r>
          </a:p>
          <a:p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COUNT — вычисляет объём продаж (цена × количество)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— группирует данные по аптекам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— фильтрует агрегированные результаты (оставляет только аптеки с оборотом &gt; 1.8 млн)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... DESC — сортирует по убыванию</a:t>
            </a:r>
          </a:p>
          <a:p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 по данным:</a:t>
            </a:r>
          </a:p>
          <a:p>
            <a:endParaRPr lang="ru-RU" sz="20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 аптеки ("Столичная" — 1,896 млн, "Доктор Айболит" — 1,894 млн, "</a:t>
            </a:r>
            <a:r>
              <a:rPr lang="ru-RU" sz="20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Здравсити</a:t>
            </a:r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— 1,863 млн) превысили порог незначительно и показывают  близкие результаты с разница менее 2%. Это указывает на высокую конкуренцию и схожие объёмы продаж.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3836B7E-52DB-C37C-D962-930DB07035DA}"/>
              </a:ext>
            </a:extLst>
          </p:cNvPr>
          <p:cNvSpPr/>
          <p:nvPr/>
        </p:nvSpPr>
        <p:spPr>
          <a:xfrm>
            <a:off x="5345722" y="-1"/>
            <a:ext cx="6846277" cy="1125415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8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аптек </a:t>
            </a:r>
          </a:p>
          <a:p>
            <a:pPr algn="r"/>
            <a:r>
              <a:rPr lang="ru-RU" sz="28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оборотом выше 1.8 млн рублей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E2E53C-70F8-00C6-455B-646AEFE39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45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72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B31F-0A45-A869-922C-95E09716B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A6A0FC-7D7F-8CF5-3075-212F20FF451E}"/>
              </a:ext>
            </a:extLst>
          </p:cNvPr>
          <p:cNvSpPr/>
          <p:nvPr/>
        </p:nvSpPr>
        <p:spPr>
          <a:xfrm>
            <a:off x="5380893" y="879230"/>
            <a:ext cx="6811108" cy="5978769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Использованные функции:</a:t>
            </a:r>
          </a:p>
          <a:p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COUNT) — расчёт дневных продаж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SUM(...) OVER (PARTITION BY ...) — оконная функция для накопленной суммы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 BY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pharmacy_name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разбивка по аптекам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report_date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сортировка по датам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 UNBOUNDED PRECEDING — суммирование от первой строки до текущей</a:t>
            </a:r>
          </a:p>
          <a:p>
            <a:endParaRPr lang="ru-RU" sz="20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 по данным:</a:t>
            </a:r>
          </a:p>
          <a:p>
            <a:endParaRPr lang="ru-RU" sz="20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показывает динамику продаж по каждой аптеке: дневную выручку и накопленную сумму. Видно, что "Столичная" за 5 дней (28.05-01.06) накопила 1 896 млн, а "Аптека №1" начиная с февраля постепенно наращивает оборот (к 6 февраля — 74 856). Удобно для отслеживания прогресса каждой аптеки во времени.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51F5033-43E4-B9EE-AA67-0635E6027A48}"/>
              </a:ext>
            </a:extLst>
          </p:cNvPr>
          <p:cNvSpPr/>
          <p:nvPr/>
        </p:nvSpPr>
        <p:spPr>
          <a:xfrm>
            <a:off x="5345722" y="-1"/>
            <a:ext cx="6846277" cy="1125415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8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продаж по каждой аптеке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9AFF766-768D-EEBB-5634-FF22B36E3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808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3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09E72-864C-CE8F-6E15-B2273D36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86F7C57-73C9-6845-DE13-D576B0884DF6}"/>
              </a:ext>
            </a:extLst>
          </p:cNvPr>
          <p:cNvSpPr/>
          <p:nvPr/>
        </p:nvSpPr>
        <p:spPr>
          <a:xfrm>
            <a:off x="5380893" y="879230"/>
            <a:ext cx="6811108" cy="5978769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Использованные функции:</a:t>
            </a:r>
          </a:p>
          <a:p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COUNT(DISTINCT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— подсчёт уникальных клиентов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— соединение таблиц заказов и клиентов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— группировка по аптекам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... DESC — сортировка по убыванию количества клиентов</a:t>
            </a:r>
          </a:p>
          <a:p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 по данным:</a:t>
            </a:r>
          </a:p>
          <a:p>
            <a:endParaRPr lang="ru-RU" sz="20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аптеки имеют очень близкое количество уникальных клиентов (разница всего 15 клиентов между первой и последней). Конкуренция за клиентов крайне высокая, все аптеки показывают схожие результаты по охвату аудитории.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4E5113-EA3C-9965-CF1F-F5E3B068FA95}"/>
              </a:ext>
            </a:extLst>
          </p:cNvPr>
          <p:cNvSpPr/>
          <p:nvPr/>
        </p:nvSpPr>
        <p:spPr>
          <a:xfrm>
            <a:off x="5345722" y="-1"/>
            <a:ext cx="6846277" cy="1125415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8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уникальных клиентов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7A6986-EB51-FD92-0373-42DAD4345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345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92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05C35-B6A7-5E32-6E69-0785D90BD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77E4344-AC6E-677B-CEC0-22CCDF741385}"/>
              </a:ext>
            </a:extLst>
          </p:cNvPr>
          <p:cNvSpPr/>
          <p:nvPr/>
        </p:nvSpPr>
        <p:spPr>
          <a:xfrm>
            <a:off x="5345720" y="879230"/>
            <a:ext cx="6846281" cy="5978769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Использованные функции: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— расчёт общей суммы заказов клиента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— соединение таблиц заказов и клиентов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— группировка по клиентам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ROW_NUMBER() OVER (ORDER BY ...) — оконная функция для ранжирования клиентов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CTE (WITH) — общие табличные выражения для структурирования запроса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&lt;= 10 — фильтрация топ-10</a:t>
            </a:r>
          </a:p>
          <a:p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 по данным:</a:t>
            </a:r>
          </a:p>
          <a:p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выявляет лучших клиентов по сумме покупок. Все клиенты из топ-10 — ценные покупатели с оборотом выше 38 тысяч. Лидер — Буров Бажан Германович с результатом 45 174. CTE позволяют сначала подсчитать суммы по каждому клиенту, затем пронумеровать их по убыванию и вывести топ-10 с полными ФИО. Удобно для анализа VIP-клиентов.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497FB37-FACE-6469-DE8D-8C72A0277C8E}"/>
              </a:ext>
            </a:extLst>
          </p:cNvPr>
          <p:cNvSpPr/>
          <p:nvPr/>
        </p:nvSpPr>
        <p:spPr>
          <a:xfrm>
            <a:off x="5345722" y="-1"/>
            <a:ext cx="6846277" cy="1125415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8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Лучшие клиенты по сумме покупок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603857-D5F8-E0B9-5D97-B1BB42129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5345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75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CCF84-5B12-8E22-7A35-D077FC43F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29BBC8D-E7DE-B37C-87F5-BCAD9D78BB57}"/>
              </a:ext>
            </a:extLst>
          </p:cNvPr>
          <p:cNvSpPr/>
          <p:nvPr/>
        </p:nvSpPr>
        <p:spPr>
          <a:xfrm>
            <a:off x="5345720" y="879230"/>
            <a:ext cx="6846281" cy="5978769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Использованные функции: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CONCAT_WS(' ', ...) — объединение ФИО в одно поле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SUM() OVER (PARTITION BY ... ORDER BY ...) — оконная функция для расчёта накопленной суммы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 BY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разбивка по каждому клиенту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report_date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сортировка по датам для хронологии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— соединение таблиц заказов и клиентов</a:t>
            </a:r>
          </a:p>
          <a:p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 по данным:</a:t>
            </a:r>
          </a:p>
          <a:p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показывает историю покупок каждого клиента с нарастающим итогом. Например, Алексеев Сократ </a:t>
            </a:r>
            <a:r>
              <a:rPr lang="ru-RU" sz="20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Федосьевич</a:t>
            </a:r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апреля по май сделал 6 покупок на общую сумму 19 725 (последнее значение </a:t>
            </a:r>
            <a:r>
              <a:rPr lang="ru-RU" sz="20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cumulative_spent</a:t>
            </a:r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Удобно отслеживать лояльность и активность клиентов во времени.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B66352A-68AA-7741-F4C5-A3D5F66ABB2F}"/>
              </a:ext>
            </a:extLst>
          </p:cNvPr>
          <p:cNvSpPr/>
          <p:nvPr/>
        </p:nvSpPr>
        <p:spPr>
          <a:xfrm>
            <a:off x="5345722" y="-1"/>
            <a:ext cx="6846277" cy="1125415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8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покупок каждого клиента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A9C329-615F-CCD2-7D3E-7604AA760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45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79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639CD-179D-A35E-EEFF-4F9C9264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BBF7CA-DD8B-BDF3-E4BE-BFC7ADDD3C41}"/>
              </a:ext>
            </a:extLst>
          </p:cNvPr>
          <p:cNvSpPr/>
          <p:nvPr/>
        </p:nvSpPr>
        <p:spPr>
          <a:xfrm>
            <a:off x="5345720" y="879230"/>
            <a:ext cx="6846281" cy="5978769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Использованные функции: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CONCAT_WS(' ', ...) — объединение ФИО в одно поле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SUM() OVER (PARTITION BY ... ORDER BY ...) — оконная функция для расчёта накопленной суммы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 BY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разбивка по каждому клиенту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report_date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сортировка по датам для хронологии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— соединение таблиц заказов и клиентов</a:t>
            </a:r>
          </a:p>
          <a:p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 по данным:</a:t>
            </a:r>
          </a:p>
          <a:p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показывает историю покупок каждого клиента с нарастающим итогом. Например, Алексеев Сократ </a:t>
            </a:r>
            <a:r>
              <a:rPr lang="ru-RU" sz="20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Федосьевич</a:t>
            </a:r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апреля по май сделал 6 покупок на общую сумму 19 725 (последнее значение </a:t>
            </a:r>
            <a:r>
              <a:rPr lang="ru-RU" sz="20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cumulative_spent</a:t>
            </a:r>
            <a:r>
              <a:rPr lang="ru-RU" sz="20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Удобно отслеживать лояльность и активность клиентов во времени.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B8D7B5B-5BAA-D039-FAEC-AA7F85E0296A}"/>
              </a:ext>
            </a:extLst>
          </p:cNvPr>
          <p:cNvSpPr/>
          <p:nvPr/>
        </p:nvSpPr>
        <p:spPr>
          <a:xfrm>
            <a:off x="5345722" y="-1"/>
            <a:ext cx="6846277" cy="1125415"/>
          </a:xfrm>
          <a:prstGeom prst="rect">
            <a:avLst/>
          </a:prstGeom>
          <a:solidFill>
            <a:srgbClr val="CF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8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Самые частые клиенты аптек Горздрав и </a:t>
            </a:r>
            <a:r>
              <a:rPr lang="ru-RU" sz="2800" b="1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Здравсити</a:t>
            </a:r>
            <a:r>
              <a:rPr lang="ru-RU" sz="28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A49C6D-2C69-ACA5-98A6-25F939D56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606" y="-1"/>
            <a:ext cx="5402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93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0187B8D-8EC6-309F-BAB7-CB779D4CF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AB3B67-D86A-5A76-6278-55FF24E2E0DD}"/>
              </a:ext>
            </a:extLst>
          </p:cNvPr>
          <p:cNvSpPr txBox="1"/>
          <p:nvPr/>
        </p:nvSpPr>
        <p:spPr>
          <a:xfrm>
            <a:off x="0" y="0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EB6EFA-FAAB-88F1-37B0-EBD02179991C}"/>
              </a:ext>
            </a:extLst>
          </p:cNvPr>
          <p:cNvSpPr/>
          <p:nvPr/>
        </p:nvSpPr>
        <p:spPr>
          <a:xfrm>
            <a:off x="3380509" y="5846618"/>
            <a:ext cx="3546764" cy="849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Коробкова Мария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maria.vesna79@gmail.com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25811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895</Words>
  <Application>Microsoft Office PowerPoint</Application>
  <PresentationFormat>Широкоэкранный</PresentationFormat>
  <Paragraphs>100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zolotay79@gmail.com</dc:creator>
  <cp:lastModifiedBy>zolotay79@gmail.com</cp:lastModifiedBy>
  <cp:revision>3</cp:revision>
  <dcterms:created xsi:type="dcterms:W3CDTF">2026-02-20T06:32:39Z</dcterms:created>
  <dcterms:modified xsi:type="dcterms:W3CDTF">2026-02-22T10:34:17Z</dcterms:modified>
</cp:coreProperties>
</file>